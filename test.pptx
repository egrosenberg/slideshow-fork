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Welcome everyone and set expectations.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Briefly introduce myself and the goal of today’s session.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Mention the structure: what we’ll cover and roughly how long it will take.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Walk through the agenda at a high level.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Highlight any key takeaways or outcomes.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Encourage questions—either during or at the end.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Describe the context that led to this topic.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Explain why it matters and who is affected.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Keep the audience focused on “why they should care.”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a3c89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a3c89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Introduce the first major concept.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Give a simple example to make it relatable.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Reinforce how this point ties back to the larger goal.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a3c898_0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a3c89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6fa3c898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6fa3c89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a3c898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a3c89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Invite questions and encourage participation.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no one speaks up, offer a common question you’ve heard before.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them for attending.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Status Report:</a:t>
            </a:r>
            <a:br>
              <a:rPr lang="en"/>
            </a:br>
            <a:r>
              <a:rPr lang="en"/>
              <a:t>Project name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Name • 09.04.20XX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79" name="Google Shape;79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delivery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January 4, 20XX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Recent progress</a:t>
            </a:r>
            <a:endParaRPr b="1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Lorem ipsum dolor sit amet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Sed do eiusmod tempor incididunt ut labore et dolore magna aliqua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Biggest risk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Lorem ipsum dolor sit amet, consectetur adipiscing elit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- Topic area 1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1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Lorem ipsum dolor sit amet, consectetur adipiscing elit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Sed do eiusmod tempor incididunt ut labore et dolore magna aliqua. </a:t>
            </a:r>
            <a:endParaRPr sz="1600"/>
          </a:p>
        </p:txBody>
      </p:sp>
      <p:sp>
        <p:nvSpPr>
          <p:cNvPr id="86" name="Google Shape;86;p1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b="1" lang="en" sz="2100">
                <a:solidFill>
                  <a:schemeClr val="dk1"/>
                </a:solidFill>
              </a:rPr>
              <a:t>Accomplishment 2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- Topic area 2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1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Lorem ipsum dolor sit amet, consectetur adipiscing elit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Sed do eiusmod tempor incididunt ut labore et dolore magna aliqua. </a:t>
            </a:r>
            <a:endParaRPr sz="1600"/>
          </a:p>
        </p:txBody>
      </p:sp>
      <p:sp>
        <p:nvSpPr>
          <p:cNvPr id="93" name="Google Shape;93;p16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Accomplishment 2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areas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Risk 1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Lorem ipsum dolor sit amet, consectetur adipiscing elit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Sed do eiusmod tempor incididunt ut labore et dolore magna aliqua. </a:t>
            </a:r>
            <a:endParaRPr sz="1600"/>
          </a:p>
        </p:txBody>
      </p:sp>
      <p:sp>
        <p:nvSpPr>
          <p:cNvPr id="100" name="Google Shape;100;p17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Risk 2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1200"/>
              </a:spcAft>
              <a:buSzPts val="1600"/>
              <a:buChar char="●"/>
            </a:pPr>
            <a:r>
              <a:rPr lang="en" sz="1600"/>
              <a:t>Ut enim ad minim veniam, quis nostrud exercitation ullamco laboris nisi ut aliquip ex ea commodo consequat.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ackground pointer shape in timeline graphic" id="110" name="Google Shape;110;p19"/>
          <p:cNvSpPr/>
          <p:nvPr/>
        </p:nvSpPr>
        <p:spPr>
          <a:xfrm>
            <a:off x="340934" y="2199000"/>
            <a:ext cx="1872300" cy="7455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>
            <p:ph idx="4294967295" type="body"/>
          </p:nvPr>
        </p:nvSpPr>
        <p:spPr>
          <a:xfrm>
            <a:off x="340923" y="2336550"/>
            <a:ext cx="14556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09.05.XX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12" name="Google Shape;112;p19"/>
          <p:cNvGrpSpPr/>
          <p:nvPr/>
        </p:nvGrpSpPr>
        <p:grpSpPr>
          <a:xfrm>
            <a:off x="969270" y="1610215"/>
            <a:ext cx="198900" cy="593656"/>
            <a:chOff x="777447" y="1610215"/>
            <a:chExt cx="198900" cy="593656"/>
          </a:xfrm>
        </p:grpSpPr>
        <p:cxnSp>
          <p:nvCxnSpPr>
            <p:cNvPr id="113" name="Google Shape;113;p19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19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9"/>
          <p:cNvSpPr txBox="1"/>
          <p:nvPr>
            <p:ph idx="4294967295" type="body"/>
          </p:nvPr>
        </p:nvSpPr>
        <p:spPr>
          <a:xfrm>
            <a:off x="318375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16" name="Google Shape;116;p19"/>
          <p:cNvSpPr/>
          <p:nvPr/>
        </p:nvSpPr>
        <p:spPr>
          <a:xfrm>
            <a:off x="1817054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 txBox="1"/>
          <p:nvPr>
            <p:ph idx="4294967295" type="body"/>
          </p:nvPr>
        </p:nvSpPr>
        <p:spPr>
          <a:xfrm>
            <a:off x="2126317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09.17.XX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18" name="Google Shape;118;p19"/>
          <p:cNvGrpSpPr/>
          <p:nvPr/>
        </p:nvGrpSpPr>
        <p:grpSpPr>
          <a:xfrm>
            <a:off x="2684632" y="2938958"/>
            <a:ext cx="198900" cy="593656"/>
            <a:chOff x="2223534" y="2938958"/>
            <a:chExt cx="198900" cy="593656"/>
          </a:xfrm>
        </p:grpSpPr>
        <p:cxnSp>
          <p:nvCxnSpPr>
            <p:cNvPr id="119" name="Google Shape;119;p19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" name="Google Shape;120;p19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" name="Google Shape;121;p19"/>
          <p:cNvSpPr txBox="1"/>
          <p:nvPr>
            <p:ph idx="4294967295" type="body"/>
          </p:nvPr>
        </p:nvSpPr>
        <p:spPr>
          <a:xfrm>
            <a:off x="1244337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22" name="Google Shape;122;p19"/>
          <p:cNvSpPr/>
          <p:nvPr/>
        </p:nvSpPr>
        <p:spPr>
          <a:xfrm>
            <a:off x="347197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 txBox="1"/>
          <p:nvPr>
            <p:ph idx="4294967295" type="body"/>
          </p:nvPr>
        </p:nvSpPr>
        <p:spPr>
          <a:xfrm>
            <a:off x="3767755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10.13.XX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24" name="Google Shape;124;p19"/>
          <p:cNvGrpSpPr/>
          <p:nvPr/>
        </p:nvGrpSpPr>
        <p:grpSpPr>
          <a:xfrm>
            <a:off x="4319545" y="1610215"/>
            <a:ext cx="198900" cy="593656"/>
            <a:chOff x="3918084" y="1610215"/>
            <a:chExt cx="198900" cy="593656"/>
          </a:xfrm>
        </p:grpSpPr>
        <p:cxnSp>
          <p:nvCxnSpPr>
            <p:cNvPr id="125" name="Google Shape;125;p19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19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" name="Google Shape;127;p19"/>
          <p:cNvSpPr txBox="1"/>
          <p:nvPr>
            <p:ph idx="4294967295" type="body"/>
          </p:nvPr>
        </p:nvSpPr>
        <p:spPr>
          <a:xfrm>
            <a:off x="3304094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28" name="Google Shape;128;p19"/>
          <p:cNvSpPr/>
          <p:nvPr/>
        </p:nvSpPr>
        <p:spPr>
          <a:xfrm>
            <a:off x="512689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>
            <p:ph idx="4294967295" type="body"/>
          </p:nvPr>
        </p:nvSpPr>
        <p:spPr>
          <a:xfrm>
            <a:off x="5416699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10.20.XX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30" name="Google Shape;130;p19"/>
          <p:cNvGrpSpPr/>
          <p:nvPr/>
        </p:nvGrpSpPr>
        <p:grpSpPr>
          <a:xfrm>
            <a:off x="5973070" y="2938958"/>
            <a:ext cx="198900" cy="593656"/>
            <a:chOff x="5958946" y="2938958"/>
            <a:chExt cx="198900" cy="593656"/>
          </a:xfrm>
        </p:grpSpPr>
        <p:cxnSp>
          <p:nvCxnSpPr>
            <p:cNvPr id="131" name="Google Shape;131;p19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19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9"/>
          <p:cNvSpPr txBox="1"/>
          <p:nvPr>
            <p:ph idx="4294967295" type="body"/>
          </p:nvPr>
        </p:nvSpPr>
        <p:spPr>
          <a:xfrm>
            <a:off x="5126902" y="3757725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  <p:sp>
        <p:nvSpPr>
          <p:cNvPr descr="Background pointer shape in timeline graphic" id="134" name="Google Shape;134;p19"/>
          <p:cNvSpPr/>
          <p:nvPr/>
        </p:nvSpPr>
        <p:spPr>
          <a:xfrm>
            <a:off x="6781813" y="2199000"/>
            <a:ext cx="2051100" cy="7455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 txBox="1"/>
          <p:nvPr>
            <p:ph idx="4294967295" type="body"/>
          </p:nvPr>
        </p:nvSpPr>
        <p:spPr>
          <a:xfrm>
            <a:off x="7111512" y="2336550"/>
            <a:ext cx="1315500" cy="4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11.01.XX</a:t>
            </a:r>
            <a:endParaRPr b="1" sz="1600">
              <a:solidFill>
                <a:schemeClr val="lt1"/>
              </a:solidFill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7669807" y="1610215"/>
            <a:ext cx="198900" cy="593656"/>
            <a:chOff x="3918084" y="1610215"/>
            <a:chExt cx="198900" cy="593656"/>
          </a:xfrm>
        </p:grpSpPr>
        <p:cxnSp>
          <p:nvCxnSpPr>
            <p:cNvPr id="137" name="Google Shape;137;p19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" name="Google Shape;138;p19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9"/>
          <p:cNvSpPr txBox="1"/>
          <p:nvPr>
            <p:ph idx="4294967295" type="body"/>
          </p:nvPr>
        </p:nvSpPr>
        <p:spPr>
          <a:xfrm>
            <a:off x="6685979" y="385667"/>
            <a:ext cx="22428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Lorem ipsum dolor sit amet, consectetur adipiscing elit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Assignment 1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Lorem ipsum dolor sit amet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Consectetur adipiscing elit, sed do eiusmod tempor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Assignment 2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Lorem ipsum dolor sit amet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Assignment 3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Consectetur adipiscing elit, sed do eiusmod tempor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for next meeting</a:t>
            </a:r>
            <a:endParaRPr/>
          </a:p>
        </p:txBody>
      </p:sp>
      <p:sp>
        <p:nvSpPr>
          <p:cNvPr id="151" name="Google Shape;15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Lorem ipsum dolor sit amet, consectetur adipiscing elit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Sed do eiusmod tempor incididunt ut labore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AutoNum type="arabicPeriod"/>
            </a:pPr>
            <a:r>
              <a:rPr lang="en"/>
              <a:t>Ut enim ad minim veniam, quis nostrud exercitation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